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>
        <p:scale>
          <a:sx n="51" d="100"/>
          <a:sy n="51" d="100"/>
        </p:scale>
        <p:origin x="528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90D3-40FC-4420-A6BA-5045CDD2D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46CD6-96D3-4D96-A340-2C97EC77A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D349B-2142-4F5E-9A22-2B3DB928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70627-CEB2-41D2-A397-B8293253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37D99-BDBB-43BC-93FB-50350660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3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1F10-70B0-4D6F-B22D-339AB390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674AF-E1FD-42BD-9162-30EF14EA0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7FE1-E48E-4654-92CD-40852CAB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3863A-2CB1-4213-A721-5114FFA8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E427E-8B44-483B-A4B4-DD86EEFC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1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AB519-6E6F-45F8-BCC4-5638E5CE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0A2B5-AA43-42A5-ADC7-5FE2CFA53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C2639-D30E-4093-B63E-E6B1074E0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EE3E8-0554-4547-92E3-875D65F4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F9586-836E-4A39-856F-91B58999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37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AE49B-89B5-4D5F-B824-373B01F4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68052-8E64-479E-B07E-F801F741C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CC757-AEBA-4497-80BB-738025679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BD8A8-2CF6-4BA3-BACB-DCE18241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82481-1E58-43E5-AB18-3DE502A4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A37D0-76D8-4FCD-AEB1-670AFF8F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2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0431-1743-43EC-99DC-CE096C48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43CDC-65D2-4C56-93B0-30AD7C02D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279E4-984A-4F05-956A-5B2E1FD20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14013-6E74-438F-9DCE-3782C4C0D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80B47-8A78-484E-ABA2-0F7DA9400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B4F3D-C92B-4585-BEA7-93C38C12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65426-1D9D-418F-8CDD-C5C39489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37FBE4-CBE4-48B9-9CCC-C73CD9E8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2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3D63-5E9B-4622-BDB6-92240D4D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40C2C-5279-46CD-B7B6-7C8B15931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80367-4C41-48A6-B582-AE778419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D86D8-AD37-493B-BECF-D22FAB27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4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6A47D-FDDE-4BB5-B904-25E5AE83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EE2A2-098F-496C-9F1D-DCEC4321D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F1F48-EB0C-478F-92E2-664F5E16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7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6D61-8D77-4291-97C5-7038CB24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261FD-8C56-4CB4-B75A-61C348699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ED25-3EC0-4C29-9709-6E34EE1E0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4E80B-5209-4868-8215-2F539D9E7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010EC-ADDB-4270-818F-8648FFBBE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B2650-EABA-482D-9081-15018990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25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A031-25B9-4960-BB94-6BCE9A52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B02A5-8475-4BC8-96DE-703FE9283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1A93B-D5AB-4FC4-93D4-CCC65206E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C6C54-19AD-4192-97D2-02007C78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5DB40-C598-4C83-85C1-2E0AA633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E43C7-B79E-4AA0-91EE-1EC36A18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8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7F46-D599-4D1E-BB7B-526A3E6D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F77FA-15D0-4F89-B7E4-BCC5184A2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CD5D1-7000-4213-ADCA-09A8E65F5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C853A-715F-4439-9A4E-5AF5BEFC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6F57B-5636-4D29-BB99-D35C1224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84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F8ECC-9D36-415A-8061-4EBDBABBA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64773C-EB4E-4EEE-A686-E279CDCB7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DAFF0-4489-4EF7-92FA-9DB73E2D9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B4EC8-3FDC-40C8-926A-C7C1C53C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887AA-6642-43F9-AF38-4597CD33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0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8F816-FF0C-4471-9F6A-68B9B81E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85F73-6512-4C6D-A60D-17611227A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4D3ED-900E-4ACC-BBE9-C4BACB9E7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08F8D-F01C-4280-B2CA-333DCE8548B2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8971A-0637-43D0-BAAA-14708B67F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F9164-3CDB-47AD-A978-9F10FE644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5353F-5688-407E-B9F0-C0637D3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2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F9D7-5E51-4B35-8257-773D1BB22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59600"/>
            <a:ext cx="8648266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AHA! Healthcare Insights</a:t>
            </a:r>
            <a:br>
              <a:rPr lang="en-US" b="1" dirty="0"/>
            </a:br>
            <a:r>
              <a:rPr lang="en-US" sz="2400" b="1" dirty="0">
                <a:latin typeface="+mn-lt"/>
              </a:rPr>
              <a:t>Analyzing Patient Trends and Hospital Care in the Aha Region</a:t>
            </a:r>
            <a:endParaRPr lang="en-US" sz="27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5B419E-5E63-4D90-997F-2C0502D18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601" y="4212682"/>
            <a:ext cx="4856207" cy="1655762"/>
          </a:xfrm>
        </p:spPr>
        <p:txBody>
          <a:bodyPr>
            <a:normAutofit/>
          </a:bodyPr>
          <a:lstStyle/>
          <a:p>
            <a:r>
              <a:rPr lang="en-US" sz="2200" b="1" dirty="0" err="1">
                <a:solidFill>
                  <a:schemeClr val="accent1">
                    <a:lumMod val="50000"/>
                  </a:schemeClr>
                </a:solidFill>
              </a:rPr>
              <a:t>DataLab</a:t>
            </a:r>
            <a:r>
              <a:rPr lang="en-US" sz="2200" b="1" dirty="0">
                <a:solidFill>
                  <a:schemeClr val="accent1">
                    <a:lumMod val="50000"/>
                  </a:schemeClr>
                </a:solidFill>
              </a:rPr>
              <a:t> Analytics Internship Project</a:t>
            </a:r>
          </a:p>
          <a:p>
            <a:br>
              <a:rPr lang="en-US" b="1" dirty="0"/>
            </a:br>
            <a:r>
              <a:rPr lang="en-US" b="1" dirty="0"/>
              <a:t>BY</a:t>
            </a:r>
          </a:p>
          <a:p>
            <a:r>
              <a:rPr lang="en-US" b="1" dirty="0"/>
              <a:t>TIWA DAODU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31776D7A-7515-401C-B7F8-E39AFB8FBDFE}"/>
              </a:ext>
            </a:extLst>
          </p:cNvPr>
          <p:cNvSpPr/>
          <p:nvPr/>
        </p:nvSpPr>
        <p:spPr>
          <a:xfrm>
            <a:off x="2696705" y="588723"/>
            <a:ext cx="6798590" cy="7816241"/>
          </a:xfrm>
          <a:prstGeom prst="arc">
            <a:avLst>
              <a:gd name="adj1" fmla="val 15196453"/>
              <a:gd name="adj2" fmla="val 2150052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C20CA9-C8F5-49B2-8123-2F8473C07F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676" y="0"/>
            <a:ext cx="7294323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49866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9E68-8997-4013-870A-F79372999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225641"/>
            <a:ext cx="5181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Questions to be answered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D778F-188E-43FF-AF2E-5FB6E125E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1478" y="1379349"/>
            <a:ext cx="5818322" cy="5121659"/>
          </a:xfrm>
        </p:spPr>
        <p:txBody>
          <a:bodyPr>
            <a:noAutofit/>
          </a:bodyPr>
          <a:lstStyle/>
          <a:p>
            <a:r>
              <a:rPr lang="en-US" sz="2400" dirty="0"/>
              <a:t>Every year, thousands of patients visit hospitals in the Aha region with diverse medical needs.</a:t>
            </a:r>
          </a:p>
          <a:p>
            <a:r>
              <a:rPr lang="en-US" sz="2400" dirty="0"/>
              <a:t>Understanding how patients use healthcare services over time reveals patterns that improve care and resource planning.</a:t>
            </a:r>
          </a:p>
          <a:p>
            <a:r>
              <a:rPr lang="en-US" sz="2400" dirty="0"/>
              <a:t>This project examines patient data from November 2018 to November 2023, including demographics, medical conditions, treatments, and billing.</a:t>
            </a:r>
          </a:p>
          <a:p>
            <a:r>
              <a:rPr lang="en-US" sz="2400" dirty="0"/>
              <a:t>These records uncover trends in admissions, treatment use, and hospital performance, showing how healthcare was delivered in the region over five years.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72D18-69B3-45CF-950C-DEDF95C78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379349"/>
            <a:ext cx="5970722" cy="4510007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Analyze patient demographics and their impact on hospital admissions.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Identify the most common medical conditions among patients.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Examine admission patterns and their changes over time.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Investigate billing trends and cost variations across patient groups.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Assess medication use and treatment effectiveness.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 hospital performance based on discharge rates and patient outcomes.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5E0E0F-7A91-4CBC-A777-955241A58643}"/>
              </a:ext>
            </a:extLst>
          </p:cNvPr>
          <p:cNvSpPr txBox="1">
            <a:spLocks/>
          </p:cNvSpPr>
          <p:nvPr/>
        </p:nvSpPr>
        <p:spPr>
          <a:xfrm>
            <a:off x="201478" y="225640"/>
            <a:ext cx="58945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Introduction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917FA2-6469-4F16-BB65-CDB69000DCD3}"/>
              </a:ext>
            </a:extLst>
          </p:cNvPr>
          <p:cNvSpPr txBox="1">
            <a:spLocks/>
          </p:cNvSpPr>
          <p:nvPr/>
        </p:nvSpPr>
        <p:spPr>
          <a:xfrm>
            <a:off x="6490561" y="5478651"/>
            <a:ext cx="5181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Analysis was done using Microsoft Excel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1450E-D2C6-4834-AC24-B812DABC42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9E68-8997-4013-870A-F79372999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225641"/>
            <a:ext cx="5181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Data Cleaning and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D778F-188E-43FF-AF2E-5FB6E125E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9451" y="1551202"/>
            <a:ext cx="5570350" cy="5081157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This dataset covers patient hospital visits in the “Aha” region, from November 2018 to November 2023.</a:t>
            </a:r>
          </a:p>
          <a:p>
            <a:pPr algn="just"/>
            <a:r>
              <a:rPr lang="en-US" sz="2400" dirty="0"/>
              <a:t>Contains patient demographics including age, gender, and blood type</a:t>
            </a:r>
          </a:p>
          <a:p>
            <a:pPr algn="just"/>
            <a:r>
              <a:rPr lang="en-US" sz="2400" dirty="0"/>
              <a:t>Medical information such as condition, test results, length of stay, day of admission and discharge</a:t>
            </a:r>
          </a:p>
          <a:p>
            <a:pPr algn="just"/>
            <a:r>
              <a:rPr lang="en-US" sz="2400" dirty="0"/>
              <a:t>Include hospital and insurance provider information for each admission</a:t>
            </a:r>
          </a:p>
          <a:p>
            <a:pPr algn="just"/>
            <a:r>
              <a:rPr lang="en-US" sz="2400" dirty="0"/>
              <a:t>Billing date, noting the cost of treatment for each patient.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72D18-69B3-45CF-950C-DEDF95C78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1202"/>
            <a:ext cx="5181600" cy="4625761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Grouped ages into ranges using a helper column to enable easier demographic analysis.</a:t>
            </a:r>
          </a:p>
          <a:p>
            <a:r>
              <a:rPr lang="en-US" sz="2800" dirty="0"/>
              <a:t>Length of Stay = Discharge date - Admission date </a:t>
            </a:r>
          </a:p>
          <a:p>
            <a:r>
              <a:rPr lang="en-US" sz="2800" dirty="0"/>
              <a:t>Created categorical bins for Length of Stay (e.g., 1–5 days, 6–10 days)</a:t>
            </a:r>
          </a:p>
          <a:p>
            <a:r>
              <a:rPr lang="en-US" sz="2800" dirty="0"/>
              <a:t>Classified treatment effectiveness based on test results into “effective” and ineffective” and treatment outcomes in a helper column.</a:t>
            </a:r>
          </a:p>
          <a:p>
            <a:r>
              <a:rPr lang="en-US" sz="2800" dirty="0"/>
              <a:t>Grouped billing amount into categorical bins [Bronze, Silver, Gold, Platinum, Diamond).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5E0E0F-7A91-4CBC-A777-955241A58643}"/>
              </a:ext>
            </a:extLst>
          </p:cNvPr>
          <p:cNvSpPr txBox="1">
            <a:spLocks/>
          </p:cNvSpPr>
          <p:nvPr/>
        </p:nvSpPr>
        <p:spPr>
          <a:xfrm>
            <a:off x="643826" y="225640"/>
            <a:ext cx="5181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About the dataset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3CC538-6DF9-425C-BC72-1EB4012035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3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3FBA25-65A9-4FED-9506-F24CC7FB6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529" y="457200"/>
            <a:ext cx="7640663" cy="5525146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8F5CF-F0C1-498D-B734-C1230BF29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2808" y="1313979"/>
            <a:ext cx="3932237" cy="3811588"/>
          </a:xfrm>
        </p:spPr>
        <p:txBody>
          <a:bodyPr>
            <a:normAutofit/>
          </a:bodyPr>
          <a:lstStyle/>
          <a:p>
            <a:r>
              <a:rPr lang="en-US" sz="2000" dirty="0"/>
              <a:t>Out of 10,000 patients, females slightly outnumbered males (51%).</a:t>
            </a:r>
          </a:p>
          <a:p>
            <a:r>
              <a:rPr lang="en-US" sz="2000" dirty="0"/>
              <a:t>The majority of patients were aged 25–39 years (23.73%), highlighting a young adult population.</a:t>
            </a:r>
          </a:p>
          <a:p>
            <a:r>
              <a:rPr lang="en-US" sz="2000" dirty="0"/>
              <a:t>AB- was the most common blood type among patients, though it remains relatively rare.</a:t>
            </a:r>
          </a:p>
          <a:p>
            <a:r>
              <a:rPr lang="en-US" sz="2000" dirty="0"/>
              <a:t>Cancer was the most frequent condition among female patients, while hypertension was the most common among males.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F03DAB-D4B6-4301-B939-D9579AE954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73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043215-1627-4618-A260-770A7933F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533" y="457200"/>
            <a:ext cx="7553194" cy="541178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A4D296-AD3E-4E4C-BBF7-A4F5EF301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2273" y="1257300"/>
            <a:ext cx="3932237" cy="3811588"/>
          </a:xfrm>
        </p:spPr>
        <p:txBody>
          <a:bodyPr>
            <a:noAutofit/>
          </a:bodyPr>
          <a:lstStyle/>
          <a:p>
            <a:r>
              <a:rPr lang="en-US" sz="1800" dirty="0"/>
              <a:t>Asthma, Cancer, and Hypertension account for the highest case numbers, while Diabetes is the lowest.</a:t>
            </a:r>
          </a:p>
          <a:p>
            <a:r>
              <a:rPr lang="en-US" sz="1800" dirty="0"/>
              <a:t>Many patients remain hospitalized for 21–30 days.</a:t>
            </a:r>
          </a:p>
          <a:p>
            <a:r>
              <a:rPr lang="en-US" sz="1800" dirty="0"/>
              <a:t>Patients aged 40–69 make up most cases, while those under 25 have the lowest incidence.</a:t>
            </a:r>
          </a:p>
          <a:p>
            <a:r>
              <a:rPr lang="en-US" sz="1800" dirty="0"/>
              <a:t>Female patients have higher cases of Cancer and Asthma, while male patients have higher cases of Hypertension and Obesity.</a:t>
            </a:r>
          </a:p>
          <a:p>
            <a:r>
              <a:rPr lang="en-US" sz="1800" dirty="0"/>
              <a:t>Urgent and Emergency admissions are more frequent than Elective admissions across conditions.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17812-1EDC-409B-B506-231C1F61A6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0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D38B35-6D29-4A0B-B1E9-F65C8ECFF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6716" y="1236945"/>
            <a:ext cx="3932237" cy="4384110"/>
          </a:xfrm>
        </p:spPr>
        <p:txBody>
          <a:bodyPr>
            <a:normAutofit/>
          </a:bodyPr>
          <a:lstStyle/>
          <a:p>
            <a:r>
              <a:rPr lang="en-US" sz="2000" dirty="0"/>
              <a:t>Urgent admissions represent the highest admission type overall.</a:t>
            </a:r>
          </a:p>
          <a:p>
            <a:r>
              <a:rPr lang="en-US" sz="2000" dirty="0"/>
              <a:t>Longer hospital stays are more frequently associated with Emergency and Urgent admissions compared to Elective cases.</a:t>
            </a:r>
          </a:p>
          <a:p>
            <a:r>
              <a:rPr lang="en-US" sz="2000" dirty="0"/>
              <a:t>Admission volumes show minor peaks in late May and November 2020, November 2021, October 2022, and August 2023, indicating short-term demand fluctuations.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1D14C6-12D9-4641-B699-0226721DF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953" y="457200"/>
            <a:ext cx="7755657" cy="5943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A3F5CF-E9F5-4237-AF18-6A461F969C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19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64FB39-D737-40F0-94BC-BE8F55029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636" y="457200"/>
            <a:ext cx="7481669" cy="5743183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125E05-99D1-4947-8FE5-A35611732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4399" y="1257299"/>
            <a:ext cx="3932237" cy="4142983"/>
          </a:xfrm>
        </p:spPr>
        <p:txBody>
          <a:bodyPr>
            <a:normAutofit/>
          </a:bodyPr>
          <a:lstStyle/>
          <a:p>
            <a:r>
              <a:rPr lang="en-US" sz="2000" dirty="0"/>
              <a:t>Cancer generates the highest billing among all conditions.</a:t>
            </a:r>
          </a:p>
          <a:p>
            <a:r>
              <a:rPr lang="en-US" sz="2000" dirty="0"/>
              <a:t>Billing is highest for 11–15 day stays, while extended stays (21–30 days) do not proportionally increase revenue.</a:t>
            </a:r>
          </a:p>
          <a:p>
            <a:r>
              <a:rPr lang="en-US" sz="2000" dirty="0"/>
              <a:t>The Diamond insurance plan and Aetna contribute the highest billing amounts.</a:t>
            </a:r>
          </a:p>
          <a:p>
            <a:r>
              <a:rPr lang="en-US" sz="2000" dirty="0"/>
              <a:t>Smith and Sons records the highest billing among hospitals.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C71DD-B396-46F1-BFAA-B8B54E527B1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32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EA26A1-FBC2-4143-BDE1-61CB5438E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8641" y="457199"/>
            <a:ext cx="7719663" cy="5517715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0C5643-BBFA-4022-9463-161464E25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3696" y="1105422"/>
            <a:ext cx="3707161" cy="3811588"/>
          </a:xfrm>
        </p:spPr>
        <p:txBody>
          <a:bodyPr>
            <a:noAutofit/>
          </a:bodyPr>
          <a:lstStyle/>
          <a:p>
            <a:r>
              <a:rPr lang="en-US" sz="1800" dirty="0"/>
              <a:t>Patient volume among the top 10 doctors is narrowly distributed, with most managing 4–5 patients.</a:t>
            </a:r>
          </a:p>
          <a:p>
            <a:r>
              <a:rPr lang="en-US" sz="1800" dirty="0"/>
              <a:t>Michael Johnson records the highest patient volume among doctors.</a:t>
            </a:r>
          </a:p>
          <a:p>
            <a:r>
              <a:rPr lang="en-US" sz="1800" dirty="0"/>
              <a:t>Smith PLC stands out as the best-performing hospital, with higher patient volume and longer average length of stay (LOS).</a:t>
            </a:r>
          </a:p>
          <a:p>
            <a:r>
              <a:rPr lang="en-US" sz="1800" dirty="0"/>
              <a:t>Hospitals with higher patient counts tend to have longer average LOS</a:t>
            </a:r>
          </a:p>
          <a:p>
            <a:r>
              <a:rPr lang="en-US" sz="1800" dirty="0"/>
              <a:t>A distinct group of doctors consistently recorded very low patient volumes, indicating underutilization.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FCD2D-7F12-487F-AF1A-52A22AF4DD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4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B2640E-A3BF-4E8D-B40A-4A01090D6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368" y="450937"/>
            <a:ext cx="7683410" cy="588723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94262-DFAF-4BBA-AE11-05C24AD64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9540" y="1230682"/>
            <a:ext cx="3932237" cy="3811588"/>
          </a:xfrm>
        </p:spPr>
        <p:txBody>
          <a:bodyPr>
            <a:noAutofit/>
          </a:bodyPr>
          <a:lstStyle/>
          <a:p>
            <a:r>
              <a:rPr lang="en-US" sz="1800" dirty="0"/>
              <a:t>Penicillin is the most frequently prescribed medication.</a:t>
            </a:r>
          </a:p>
          <a:p>
            <a:r>
              <a:rPr lang="en-US" sz="1800" dirty="0"/>
              <a:t>Overall treatment effectiveness is low, with effective outcomes in about one-third of cases.</a:t>
            </a:r>
          </a:p>
          <a:p>
            <a:r>
              <a:rPr lang="en-US" sz="1800" dirty="0"/>
              <a:t>High prescription volume does not translate into high effectiveness.</a:t>
            </a:r>
          </a:p>
          <a:p>
            <a:r>
              <a:rPr lang="en-US" sz="1800" dirty="0"/>
              <a:t>Cancer shows better treatment outcomes, while asthma and hypertension show poorer outcomes.</a:t>
            </a:r>
          </a:p>
          <a:p>
            <a:r>
              <a:rPr lang="en-US" sz="1800" dirty="0"/>
              <a:t>Longer lengths of stay are associated with poorer outcomes, suggesting prolonged admissions correlate with treatment failure and/or complications.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628F4-2763-4C4C-B7A3-5A86AEC5E2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33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153F8-FA00-4C5F-9D8F-FAAFA7AB3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193283"/>
            <a:ext cx="10515600" cy="950108"/>
          </a:xfrm>
        </p:spPr>
        <p:txBody>
          <a:bodyPr/>
          <a:lstStyle/>
          <a:p>
            <a:r>
              <a:rPr lang="en-US" b="1" dirty="0"/>
              <a:t>Recommendations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8ED20B-8381-4F26-B193-286CBEE99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15234"/>
            <a:ext cx="5157787" cy="487442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Prioritize preventive screening, chronic disease management, and lifestyle programs for the 40–69 age group to reduce high-volume conditions.</a:t>
            </a:r>
          </a:p>
          <a:p>
            <a:r>
              <a:rPr lang="en-US" dirty="0"/>
              <a:t>Strengthen early health education and preventive awareness for those under 25 to maintain a low incidence and promote early seeking of care.</a:t>
            </a:r>
          </a:p>
          <a:p>
            <a:r>
              <a:rPr lang="en-US" dirty="0"/>
              <a:t>Use standardized clinical pathways and early discharge planning to reduce prolonged hospital stays.</a:t>
            </a:r>
            <a:endParaRPr lang="en-US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F9A16F-A91C-4D11-B101-FA99610124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15234"/>
            <a:ext cx="5183188" cy="487442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Invest in better oncology care coordination and early detection to improve outcomes while managing costs.</a:t>
            </a:r>
          </a:p>
          <a:p>
            <a:r>
              <a:rPr lang="en-US" dirty="0"/>
              <a:t>Plan staffing, bed space, and resources ahead of late-year admission peaks to maintain care quality and prevent strain.</a:t>
            </a:r>
          </a:p>
          <a:p>
            <a:r>
              <a:rPr lang="en-US" dirty="0"/>
              <a:t>Improve contract negotiations and tailor services for high-value insurance plans to optimize reimbursement.</a:t>
            </a:r>
          </a:p>
          <a:p>
            <a:r>
              <a:rPr lang="en-US" dirty="0"/>
              <a:t>Strengthen clinical reviews and early intervention to improve treatment outcomes and overall efficiency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981A82-EE8D-441E-AB26-C36959F926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03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844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AHA! Healthcare Insights Analyzing Patient Trends and Hospital Care in the Aha Region</vt:lpstr>
      <vt:lpstr>Questions to be answered</vt:lpstr>
      <vt:lpstr>Data Cleaning and Calculations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Insights with Advanced Excel</dc:title>
  <dc:creator>Tiwaloluwa Daodu</dc:creator>
  <cp:lastModifiedBy>Tiwaloluwa Daodu</cp:lastModifiedBy>
  <cp:revision>86</cp:revision>
  <dcterms:created xsi:type="dcterms:W3CDTF">2026-02-14T18:09:31Z</dcterms:created>
  <dcterms:modified xsi:type="dcterms:W3CDTF">2026-02-18T19:19:46Z</dcterms:modified>
</cp:coreProperties>
</file>